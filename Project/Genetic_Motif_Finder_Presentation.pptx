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va teja reddy" userId="75c06ae163bb1c1f" providerId="LiveId" clId="{FCC4D4DE-2534-4E09-9232-CAA4F94D7AAF}"/>
    <pc:docChg chg="delSld">
      <pc:chgData name="siva teja reddy" userId="75c06ae163bb1c1f" providerId="LiveId" clId="{FCC4D4DE-2534-4E09-9232-CAA4F94D7AAF}" dt="2026-10-13T08:26:12.409" v="2" actId="2696"/>
      <pc:docMkLst>
        <pc:docMk/>
      </pc:docMkLst>
      <pc:sldChg chg="del">
        <pc:chgData name="siva teja reddy" userId="75c06ae163bb1c1f" providerId="LiveId" clId="{FCC4D4DE-2534-4E09-9232-CAA4F94D7AAF}" dt="2026-10-13T08:25:44.972" v="0" actId="2696"/>
        <pc:sldMkLst>
          <pc:docMk/>
          <pc:sldMk cId="0" sldId="272"/>
        </pc:sldMkLst>
      </pc:sldChg>
      <pc:sldChg chg="del">
        <pc:chgData name="siva teja reddy" userId="75c06ae163bb1c1f" providerId="LiveId" clId="{FCC4D4DE-2534-4E09-9232-CAA4F94D7AAF}" dt="2026-10-13T08:26:12.409" v="2" actId="2696"/>
        <pc:sldMkLst>
          <pc:docMk/>
          <pc:sldMk cId="0" sldId="273"/>
        </pc:sldMkLst>
      </pc:sldChg>
      <pc:sldChg chg="del">
        <pc:chgData name="siva teja reddy" userId="75c06ae163bb1c1f" providerId="LiveId" clId="{FCC4D4DE-2534-4E09-9232-CAA4F94D7AAF}" dt="2026-10-13T08:26:07.431" v="1" actId="2696"/>
        <pc:sldMkLst>
          <pc:docMk/>
          <pc:sldMk cId="0" sldId="274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Occurrences</c:v>
                </c:pt>
              </c:strCache>
            </c:strRef>
          </c:tx>
          <c:spPr>
            <a:solidFill>
              <a:srgbClr val="1AA3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ATGCGTAC</c:v>
                </c:pt>
                <c:pt idx="1">
                  <c:v>CGCGAATT</c:v>
                </c:pt>
                <c:pt idx="2">
                  <c:v>TATGCGTA</c:v>
                </c:pt>
                <c:pt idx="3">
                  <c:v>TGCGTACT</c:v>
                </c:pt>
                <c:pt idx="4">
                  <c:v>TGCGTACC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</c:v>
                </c:pt>
                <c:pt idx="1">
                  <c:v>40</c:v>
                </c:pt>
                <c:pt idx="2">
                  <c:v>22</c:v>
                </c:pt>
                <c:pt idx="3">
                  <c:v>18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C1-40A3-84CE-D93C79FC42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2722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in one sentence: we take a mountain of sequences, split the work, search in parallel and compare with dynamic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DNA is a book written with A, C, G and T. Genomes can be billions of letters long. If a phrase keeps showing up across many books, nature probably kept it for a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motif is like a catchphrase that recurs in a hundred different speeches. Sequence is the string of letters; the highlighted ATGCGT is the shared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motifs means checking all k-mers and seeing which ones repeat. A sequence of length n has n minus k plus 1 k-mers.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datasets can have millions of sequences, so the search has to be fast and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everyday analogies: index at the back of a book, splitting exam papers, more checkout counters, remembering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keep a lookup table: for every k-mer a list of where it appeared. Python's dict is a hash table so the answer is almost instant.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halve the range of start positions until each piece is small, scan the small pieces, then merge. Because we split by start position a boundary motif is found exactly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pool of worker processes takes independent chunk jobs. Each returns partial notes; the parent combines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cell stores the answer to a smaller problem; bigger answers are built from them. LCS gives a global score, Smith-Waterman finds the best local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matches the architecture in the project brief: dataset, preprocessing, chunks, parallel motif search, combine, frequency analysis, recurring motifs, DP alignment.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factory: reception, cutting room, workers, combining desk, analyst, comparison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module per concept, plus the CLI, the web dashboard and the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tiny sequences. ATGCGT shows up in all three, five times in total. Occurrences is the total count; Sequences Found is how many sequences contain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hid two real motifs inside 30 random sequences. The program found them: ATGCGTAC 51 times, CGCGAATT 40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heat map comes from LCS; the alignment is Smith-Waterman. Sequence 1 and 3 are the most similar 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limits: parallel can be slower on small data; alignment is quadratic. Close with the one-sentence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329184" cy="329184"/>
          </a:xfrm>
          <a:prstGeom prst="rect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05256" y="1097280"/>
            <a:ext cx="329184" cy="329184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261872" y="1097280"/>
            <a:ext cx="329184" cy="329184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61872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618488" y="1097280"/>
            <a:ext cx="329184" cy="329184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18488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975104" y="1097280"/>
            <a:ext cx="329184" cy="329184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75104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31720" y="1097280"/>
            <a:ext cx="329184" cy="329184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31720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688336" y="1097280"/>
            <a:ext cx="329184" cy="329184"/>
          </a:xfrm>
          <a:prstGeom prst="rect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88336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044952" y="1097280"/>
            <a:ext cx="329184" cy="329184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44952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01568" y="1097280"/>
            <a:ext cx="329184" cy="329184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01568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758184" y="1097280"/>
            <a:ext cx="329184" cy="329184"/>
          </a:xfrm>
          <a:prstGeom prst="rect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58184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114800" y="1097280"/>
            <a:ext cx="329184" cy="329184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14800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471416" y="1097280"/>
            <a:ext cx="329184" cy="329184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71416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828032" y="1097280"/>
            <a:ext cx="329184" cy="329184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28032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184648" y="1097280"/>
            <a:ext cx="329184" cy="329184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84648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541264" y="1097280"/>
            <a:ext cx="329184" cy="329184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41264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Sequence Motif Finder</a:t>
            </a:r>
            <a:endParaRPr lang="en-US" sz="38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28803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recurring patterns in DNA and protein data with Hashing, Divide &amp; Conquer, Multiprocessing and Dynamic Programming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36365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 Teja Reddy | 2601050128 |  </a:t>
            </a:r>
            <a:r>
              <a:rPr lang="en-IN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26CS5101E- COMPUTATIONAL THINKING AND PROGRAMMING</a:t>
            </a:r>
            <a:r>
              <a:rPr lang="en-US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3" name="Picture 42" descr="Image result for Kl University Logo Jpg">
            <a:extLst>
              <a:ext uri="{FF2B5EF4-FFF2-40B4-BE49-F238E27FC236}">
                <a16:creationId xmlns:a16="http://schemas.microsoft.com/office/drawing/2014/main" id="{CC75B213-3DB9-99C2-F1D3-F83D11BE303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9000"/>
          </a:blip>
          <a:stretch>
            <a:fillRect/>
          </a:stretch>
        </p:blipFill>
        <p:spPr>
          <a:xfrm>
            <a:off x="7615770" y="178498"/>
            <a:ext cx="1412171" cy="557404"/>
          </a:xfrm>
          <a:prstGeom prst="rect">
            <a:avLst/>
          </a:prstGeom>
          <a:effectLst>
            <a:outerShdw dist="50800" sx="1000" sy="1000" algn="ctr" rotWithShape="0">
              <a:srgbClr val="000000">
                <a:alpha val="13000"/>
              </a:srgbClr>
            </a:outerShdw>
            <a:softEdge rad="254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giant book with only four letters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188720"/>
            <a:ext cx="274320" cy="274320"/>
          </a:xfrm>
          <a:prstGeom prst="rect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50392" y="1188720"/>
            <a:ext cx="274320" cy="274320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0392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152144" y="1188720"/>
            <a:ext cx="274320" cy="274320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52144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453896" y="1188720"/>
            <a:ext cx="274320" cy="274320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453896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755648" y="1188720"/>
            <a:ext cx="274320" cy="274320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755648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057400" y="1188720"/>
            <a:ext cx="274320" cy="274320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05740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359152" y="1188720"/>
            <a:ext cx="274320" cy="274320"/>
          </a:xfrm>
          <a:prstGeom prst="rect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359152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660904" y="1188720"/>
            <a:ext cx="274320" cy="274320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660904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2962656" y="1188720"/>
            <a:ext cx="274320" cy="274320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962656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264408" y="1188720"/>
            <a:ext cx="274320" cy="274320"/>
          </a:xfrm>
          <a:prstGeom prst="rect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264408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566160" y="1188720"/>
            <a:ext cx="274320" cy="274320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56616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3867912" y="1188720"/>
            <a:ext cx="274320" cy="274320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867912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169664" y="1188720"/>
            <a:ext cx="274320" cy="274320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169664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4471416" y="1188720"/>
            <a:ext cx="274320" cy="274320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471416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4773168" y="1188720"/>
            <a:ext cx="274320" cy="274320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773168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5074920" y="1188720"/>
            <a:ext cx="274320" cy="274320"/>
          </a:xfrm>
          <a:prstGeom prst="rect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07492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376672" y="1188720"/>
            <a:ext cx="274320" cy="274320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376672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5678424" y="1188720"/>
            <a:ext cx="274320" cy="274320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678424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5980176" y="1188720"/>
            <a:ext cx="274320" cy="274320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980176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6281928" y="1188720"/>
            <a:ext cx="274320" cy="274320"/>
          </a:xfrm>
          <a:prstGeom prst="rect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281928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6583680" y="1188720"/>
            <a:ext cx="274320" cy="274320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58368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6885432" y="1188720"/>
            <a:ext cx="274320" cy="274320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885432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7187184" y="1188720"/>
            <a:ext cx="274320" cy="274320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187184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53" name="Shape 50"/>
          <p:cNvSpPr/>
          <p:nvPr/>
        </p:nvSpPr>
        <p:spPr>
          <a:xfrm>
            <a:off x="7488936" y="1188720"/>
            <a:ext cx="274320" cy="274320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7488936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55" name="Shape 52"/>
          <p:cNvSpPr/>
          <p:nvPr/>
        </p:nvSpPr>
        <p:spPr>
          <a:xfrm>
            <a:off x="7790688" y="1188720"/>
            <a:ext cx="274320" cy="274320"/>
          </a:xfrm>
          <a:prstGeom prst="rect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790688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57" name="Shape 54"/>
          <p:cNvSpPr/>
          <p:nvPr/>
        </p:nvSpPr>
        <p:spPr>
          <a:xfrm>
            <a:off x="8092440" y="1188720"/>
            <a:ext cx="274320" cy="274320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09244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59" name="Shape 56"/>
          <p:cNvSpPr/>
          <p:nvPr/>
        </p:nvSpPr>
        <p:spPr>
          <a:xfrm>
            <a:off x="8394192" y="1188720"/>
            <a:ext cx="274320" cy="274320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394192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300" dirty="0"/>
          </a:p>
        </p:txBody>
      </p:sp>
      <p:sp>
        <p:nvSpPr>
          <p:cNvPr id="61" name="Shape 58"/>
          <p:cNvSpPr/>
          <p:nvPr/>
        </p:nvSpPr>
        <p:spPr>
          <a:xfrm>
            <a:off x="8695944" y="1188720"/>
            <a:ext cx="274320" cy="274320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695944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63" name="Text 60"/>
          <p:cNvSpPr txBox="1"/>
          <p:nvPr/>
        </p:nvSpPr>
        <p:spPr>
          <a:xfrm>
            <a:off x="548640" y="1600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= a book written with 4 letters: A, C, G, T</a:t>
            </a:r>
            <a:endParaRPr lang="en-US" sz="1400" dirty="0"/>
          </a:p>
        </p:txBody>
      </p:sp>
      <p:sp>
        <p:nvSpPr>
          <p:cNvPr id="64" name="Shape 61"/>
          <p:cNvSpPr/>
          <p:nvPr/>
        </p:nvSpPr>
        <p:spPr>
          <a:xfrm>
            <a:off x="548640" y="219456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548640" y="2194560"/>
            <a:ext cx="2377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bacteria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gene each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2926080" y="2651760"/>
            <a:ext cx="731520" cy="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67" name="Shape 64"/>
          <p:cNvSpPr/>
          <p:nvPr/>
        </p:nvSpPr>
        <p:spPr>
          <a:xfrm>
            <a:off x="3657600" y="219456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3657600" y="2194560"/>
            <a:ext cx="2377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short phrase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appearing?</a:t>
            </a:r>
            <a:endParaRPr lang="en-US" sz="1200" dirty="0"/>
          </a:p>
        </p:txBody>
      </p:sp>
      <p:sp>
        <p:nvSpPr>
          <p:cNvPr id="69" name="Shape 66"/>
          <p:cNvSpPr/>
          <p:nvPr/>
        </p:nvSpPr>
        <p:spPr>
          <a:xfrm>
            <a:off x="6035040" y="2651760"/>
            <a:ext cx="731520" cy="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70" name="Shape 67"/>
          <p:cNvSpPr/>
          <p:nvPr/>
        </p:nvSpPr>
        <p:spPr>
          <a:xfrm>
            <a:off x="6766560" y="2194560"/>
            <a:ext cx="1828800" cy="914400"/>
          </a:xfrm>
          <a:prstGeom prst="roundRect">
            <a:avLst>
              <a:gd name="adj" fmla="val 7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6766560" y="2194560"/>
            <a:ext cx="1828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200" dirty="0"/>
          </a:p>
        </p:txBody>
      </p:sp>
      <p:sp>
        <p:nvSpPr>
          <p:cNvPr id="72" name="Text 69"/>
          <p:cNvSpPr txBox="1"/>
          <p:nvPr/>
        </p:nvSpPr>
        <p:spPr>
          <a:xfrm>
            <a:off x="548640" y="3566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Genomes can be billions of letters long, so we need a program to find the repeating phrases.</a:t>
            </a:r>
            <a:endParaRPr lang="en-US" sz="1600" dirty="0"/>
          </a:p>
        </p:txBody>
      </p:sp>
      <p:pic>
        <p:nvPicPr>
          <p:cNvPr id="74" name="Picture 73" descr="Image result for Kl University Logo Jpg">
            <a:extLst>
              <a:ext uri="{FF2B5EF4-FFF2-40B4-BE49-F238E27FC236}">
                <a16:creationId xmlns:a16="http://schemas.microsoft.com/office/drawing/2014/main" id="{FDA74760-235D-5B72-FC30-79AE9D57D2A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9000"/>
          </a:blip>
          <a:stretch>
            <a:fillRect/>
          </a:stretch>
        </p:blipFill>
        <p:spPr>
          <a:xfrm>
            <a:off x="7499712" y="251650"/>
            <a:ext cx="1412171" cy="557404"/>
          </a:xfrm>
          <a:prstGeom prst="rect">
            <a:avLst/>
          </a:prstGeom>
          <a:effectLst>
            <a:outerShdw dist="50800" sx="1000" sy="1000" algn="ctr" rotWithShape="0">
              <a:srgbClr val="000000">
                <a:alpha val="13000"/>
              </a:srgbClr>
            </a:outerShdw>
            <a:softEdge rad="254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motif?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984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280160" y="1280160"/>
            <a:ext cx="329184" cy="329184"/>
          </a:xfrm>
          <a:prstGeom prst="rect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280160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636776" y="1280160"/>
            <a:ext cx="329184" cy="329184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636776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993392" y="1280160"/>
            <a:ext cx="329184" cy="329184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993392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2350008" y="1280160"/>
            <a:ext cx="329184" cy="329184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350008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706624" y="1280160"/>
            <a:ext cx="329184" cy="329184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706624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063240" y="1280160"/>
            <a:ext cx="329184" cy="329184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063240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3419856" y="1280160"/>
            <a:ext cx="329184" cy="32918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419856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3776472" y="1280160"/>
            <a:ext cx="329184" cy="32918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776472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133088" y="1280160"/>
            <a:ext cx="329184" cy="32918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133088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4489704" y="1280160"/>
            <a:ext cx="329184" cy="329184"/>
          </a:xfrm>
          <a:prstGeom prst="rect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489704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4846320" y="1280160"/>
            <a:ext cx="329184" cy="329184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846320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5202936" y="1280160"/>
            <a:ext cx="329184" cy="329184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202936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559552" y="1280160"/>
            <a:ext cx="329184" cy="329184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559552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5916168" y="1280160"/>
            <a:ext cx="329184" cy="329184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916168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6272784" y="1280160"/>
            <a:ext cx="329184" cy="329184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272784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18470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2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1280160" y="1828800"/>
            <a:ext cx="329184" cy="32918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28016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1636776" y="1828800"/>
            <a:ext cx="329184" cy="32918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636776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1993392" y="1828800"/>
            <a:ext cx="329184" cy="329184"/>
          </a:xfrm>
          <a:prstGeom prst="rect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993392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2350008" y="1828800"/>
            <a:ext cx="329184" cy="329184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2350008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500" dirty="0"/>
          </a:p>
        </p:txBody>
      </p:sp>
      <p:sp>
        <p:nvSpPr>
          <p:cNvPr id="47" name="Shape 44"/>
          <p:cNvSpPr/>
          <p:nvPr/>
        </p:nvSpPr>
        <p:spPr>
          <a:xfrm>
            <a:off x="2706624" y="1828800"/>
            <a:ext cx="329184" cy="329184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2706624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3063240" y="1828800"/>
            <a:ext cx="329184" cy="329184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306324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500" dirty="0"/>
          </a:p>
        </p:txBody>
      </p:sp>
      <p:sp>
        <p:nvSpPr>
          <p:cNvPr id="51" name="Shape 48"/>
          <p:cNvSpPr/>
          <p:nvPr/>
        </p:nvSpPr>
        <p:spPr>
          <a:xfrm>
            <a:off x="3419856" y="1828800"/>
            <a:ext cx="329184" cy="329184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3419856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53" name="Shape 50"/>
          <p:cNvSpPr/>
          <p:nvPr/>
        </p:nvSpPr>
        <p:spPr>
          <a:xfrm>
            <a:off x="3776472" y="1828800"/>
            <a:ext cx="329184" cy="329184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776472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4133088" y="1828800"/>
            <a:ext cx="329184" cy="32918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4133088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500" dirty="0"/>
          </a:p>
        </p:txBody>
      </p:sp>
      <p:sp>
        <p:nvSpPr>
          <p:cNvPr id="57" name="Shape 54"/>
          <p:cNvSpPr/>
          <p:nvPr/>
        </p:nvSpPr>
        <p:spPr>
          <a:xfrm>
            <a:off x="4489704" y="1828800"/>
            <a:ext cx="329184" cy="32918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4489704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500" dirty="0"/>
          </a:p>
        </p:txBody>
      </p:sp>
      <p:sp>
        <p:nvSpPr>
          <p:cNvPr id="59" name="Shape 56"/>
          <p:cNvSpPr/>
          <p:nvPr/>
        </p:nvSpPr>
        <p:spPr>
          <a:xfrm>
            <a:off x="4846320" y="1828800"/>
            <a:ext cx="329184" cy="32918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84632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5202936" y="1828800"/>
            <a:ext cx="329184" cy="32918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5202936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500" dirty="0"/>
          </a:p>
        </p:txBody>
      </p:sp>
      <p:sp>
        <p:nvSpPr>
          <p:cNvPr id="63" name="Shape 60"/>
          <p:cNvSpPr/>
          <p:nvPr/>
        </p:nvSpPr>
        <p:spPr>
          <a:xfrm>
            <a:off x="5559552" y="1828800"/>
            <a:ext cx="329184" cy="32918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559552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500" dirty="0"/>
          </a:p>
        </p:txBody>
      </p:sp>
      <p:sp>
        <p:nvSpPr>
          <p:cNvPr id="65" name="Shape 62"/>
          <p:cNvSpPr/>
          <p:nvPr/>
        </p:nvSpPr>
        <p:spPr>
          <a:xfrm>
            <a:off x="5916168" y="1828800"/>
            <a:ext cx="329184" cy="32918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5916168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67" name="Shape 64"/>
          <p:cNvSpPr/>
          <p:nvPr/>
        </p:nvSpPr>
        <p:spPr>
          <a:xfrm>
            <a:off x="6272784" y="1828800"/>
            <a:ext cx="329184" cy="32918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6272784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500" dirty="0"/>
          </a:p>
        </p:txBody>
      </p:sp>
      <p:sp>
        <p:nvSpPr>
          <p:cNvPr id="69" name="Text 66"/>
          <p:cNvSpPr txBox="1"/>
          <p:nvPr/>
        </p:nvSpPr>
        <p:spPr>
          <a:xfrm>
            <a:off x="548640" y="23957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3</a:t>
            </a:r>
            <a:endParaRPr lang="en-US" sz="1300" dirty="0"/>
          </a:p>
        </p:txBody>
      </p:sp>
      <p:sp>
        <p:nvSpPr>
          <p:cNvPr id="70" name="Shape 67"/>
          <p:cNvSpPr/>
          <p:nvPr/>
        </p:nvSpPr>
        <p:spPr>
          <a:xfrm>
            <a:off x="1280160" y="2377440"/>
            <a:ext cx="329184" cy="32918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128016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500" dirty="0"/>
          </a:p>
        </p:txBody>
      </p:sp>
      <p:sp>
        <p:nvSpPr>
          <p:cNvPr id="72" name="Shape 69"/>
          <p:cNvSpPr/>
          <p:nvPr/>
        </p:nvSpPr>
        <p:spPr>
          <a:xfrm>
            <a:off x="1636776" y="2377440"/>
            <a:ext cx="329184" cy="32918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1636776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500" dirty="0"/>
          </a:p>
        </p:txBody>
      </p:sp>
      <p:sp>
        <p:nvSpPr>
          <p:cNvPr id="74" name="Shape 71"/>
          <p:cNvSpPr/>
          <p:nvPr/>
        </p:nvSpPr>
        <p:spPr>
          <a:xfrm>
            <a:off x="1993392" y="2377440"/>
            <a:ext cx="329184" cy="329184"/>
          </a:xfrm>
          <a:prstGeom prst="rect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993392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500" dirty="0"/>
          </a:p>
        </p:txBody>
      </p:sp>
      <p:sp>
        <p:nvSpPr>
          <p:cNvPr id="76" name="Shape 73"/>
          <p:cNvSpPr/>
          <p:nvPr/>
        </p:nvSpPr>
        <p:spPr>
          <a:xfrm>
            <a:off x="2350008" y="2377440"/>
            <a:ext cx="329184" cy="329184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2350008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500" dirty="0"/>
          </a:p>
        </p:txBody>
      </p:sp>
      <p:sp>
        <p:nvSpPr>
          <p:cNvPr id="78" name="Shape 75"/>
          <p:cNvSpPr/>
          <p:nvPr/>
        </p:nvSpPr>
        <p:spPr>
          <a:xfrm>
            <a:off x="2706624" y="2377440"/>
            <a:ext cx="329184" cy="329184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2706624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80" name="Shape 77"/>
          <p:cNvSpPr/>
          <p:nvPr/>
        </p:nvSpPr>
        <p:spPr>
          <a:xfrm>
            <a:off x="3063240" y="2377440"/>
            <a:ext cx="329184" cy="329184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306324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500" dirty="0"/>
          </a:p>
        </p:txBody>
      </p:sp>
      <p:sp>
        <p:nvSpPr>
          <p:cNvPr id="82" name="Shape 79"/>
          <p:cNvSpPr/>
          <p:nvPr/>
        </p:nvSpPr>
        <p:spPr>
          <a:xfrm>
            <a:off x="3419856" y="2377440"/>
            <a:ext cx="329184" cy="329184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3419856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84" name="Shape 81"/>
          <p:cNvSpPr/>
          <p:nvPr/>
        </p:nvSpPr>
        <p:spPr>
          <a:xfrm>
            <a:off x="3776472" y="2377440"/>
            <a:ext cx="329184" cy="329184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3776472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500" dirty="0"/>
          </a:p>
        </p:txBody>
      </p:sp>
      <p:sp>
        <p:nvSpPr>
          <p:cNvPr id="86" name="Shape 83"/>
          <p:cNvSpPr/>
          <p:nvPr/>
        </p:nvSpPr>
        <p:spPr>
          <a:xfrm>
            <a:off x="4133088" y="2377440"/>
            <a:ext cx="329184" cy="32918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4133088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88" name="Shape 85"/>
          <p:cNvSpPr/>
          <p:nvPr/>
        </p:nvSpPr>
        <p:spPr>
          <a:xfrm>
            <a:off x="4489704" y="2377440"/>
            <a:ext cx="329184" cy="32918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489704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90" name="Shape 87"/>
          <p:cNvSpPr/>
          <p:nvPr/>
        </p:nvSpPr>
        <p:spPr>
          <a:xfrm>
            <a:off x="4846320" y="2377440"/>
            <a:ext cx="329184" cy="329184"/>
          </a:xfrm>
          <a:prstGeom prst="rect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84632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500" dirty="0"/>
          </a:p>
        </p:txBody>
      </p:sp>
      <p:sp>
        <p:nvSpPr>
          <p:cNvPr id="92" name="Shape 89"/>
          <p:cNvSpPr/>
          <p:nvPr/>
        </p:nvSpPr>
        <p:spPr>
          <a:xfrm>
            <a:off x="5202936" y="2377440"/>
            <a:ext cx="329184" cy="329184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5202936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500" dirty="0"/>
          </a:p>
        </p:txBody>
      </p:sp>
      <p:sp>
        <p:nvSpPr>
          <p:cNvPr id="94" name="Shape 91"/>
          <p:cNvSpPr/>
          <p:nvPr/>
        </p:nvSpPr>
        <p:spPr>
          <a:xfrm>
            <a:off x="5559552" y="2377440"/>
            <a:ext cx="329184" cy="329184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559552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96" name="Shape 93"/>
          <p:cNvSpPr/>
          <p:nvPr/>
        </p:nvSpPr>
        <p:spPr>
          <a:xfrm>
            <a:off x="5916168" y="2377440"/>
            <a:ext cx="329184" cy="329184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5916168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500" dirty="0"/>
          </a:p>
        </p:txBody>
      </p:sp>
      <p:sp>
        <p:nvSpPr>
          <p:cNvPr id="98" name="Shape 95"/>
          <p:cNvSpPr/>
          <p:nvPr/>
        </p:nvSpPr>
        <p:spPr>
          <a:xfrm>
            <a:off x="6272784" y="2377440"/>
            <a:ext cx="329184" cy="329184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6272784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100" name="Shape 97"/>
          <p:cNvSpPr/>
          <p:nvPr/>
        </p:nvSpPr>
        <p:spPr>
          <a:xfrm>
            <a:off x="6629400" y="2377440"/>
            <a:ext cx="329184" cy="329184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Text 98"/>
          <p:cNvSpPr txBox="1"/>
          <p:nvPr/>
        </p:nvSpPr>
        <p:spPr>
          <a:xfrm>
            <a:off x="662940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500" dirty="0"/>
          </a:p>
        </p:txBody>
      </p:sp>
      <p:sp>
        <p:nvSpPr>
          <p:cNvPr id="102" name="Text 99"/>
          <p:cNvSpPr txBox="1"/>
          <p:nvPr/>
        </p:nvSpPr>
        <p:spPr>
          <a:xfrm>
            <a:off x="548640" y="3017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= the motif ATGCGT (found in all 3 sequences, 5 times in total)</a:t>
            </a:r>
            <a:endParaRPr lang="en-US" sz="1300" dirty="0"/>
          </a:p>
        </p:txBody>
      </p:sp>
      <p:sp>
        <p:nvSpPr>
          <p:cNvPr id="103" name="Shape 100"/>
          <p:cNvSpPr/>
          <p:nvPr/>
        </p:nvSpPr>
        <p:spPr>
          <a:xfrm>
            <a:off x="548640" y="3429000"/>
            <a:ext cx="39319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68580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300" dirty="0"/>
          </a:p>
        </p:txBody>
      </p:sp>
      <p:sp>
        <p:nvSpPr>
          <p:cNvPr id="105" name="Text 102"/>
          <p:cNvSpPr txBox="1"/>
          <p:nvPr/>
        </p:nvSpPr>
        <p:spPr>
          <a:xfrm>
            <a:off x="685800" y="3840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string of letters for one DNA or protein, e.g. ATGCGTACGATGCGT. Proteins use 20 letters.</a:t>
            </a:r>
            <a:endParaRPr lang="en-US" sz="1200" dirty="0"/>
          </a:p>
        </p:txBody>
      </p:sp>
      <p:sp>
        <p:nvSpPr>
          <p:cNvPr id="106" name="Shape 103"/>
          <p:cNvSpPr/>
          <p:nvPr/>
        </p:nvSpPr>
        <p:spPr>
          <a:xfrm>
            <a:off x="4663440" y="3429000"/>
            <a:ext cx="39319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07" name="Text 104"/>
          <p:cNvSpPr txBox="1"/>
          <p:nvPr/>
        </p:nvSpPr>
        <p:spPr>
          <a:xfrm>
            <a:off x="480060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</a:t>
            </a:r>
            <a:endParaRPr lang="en-US" sz="1300" dirty="0"/>
          </a:p>
        </p:txBody>
      </p:sp>
      <p:sp>
        <p:nvSpPr>
          <p:cNvPr id="108" name="Text 105"/>
          <p:cNvSpPr txBox="1"/>
          <p:nvPr/>
        </p:nvSpPr>
        <p:spPr>
          <a:xfrm>
            <a:off x="4800600" y="3840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pattern that recurs across sequences, e.g. GGATCC or TATAAT. Often marks a binding or cutting site.</a:t>
            </a:r>
            <a:endParaRPr lang="en-US" sz="1200" dirty="0"/>
          </a:p>
        </p:txBody>
      </p:sp>
      <p:pic>
        <p:nvPicPr>
          <p:cNvPr id="109" name="Picture 108" descr="Image result for Kl University Logo Jpg">
            <a:extLst>
              <a:ext uri="{FF2B5EF4-FFF2-40B4-BE49-F238E27FC236}">
                <a16:creationId xmlns:a16="http://schemas.microsoft.com/office/drawing/2014/main" id="{858A816E-CE84-3AC3-0764-6CD7C96A34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9000"/>
          </a:blip>
          <a:stretch>
            <a:fillRect/>
          </a:stretch>
        </p:blipFill>
        <p:spPr>
          <a:xfrm>
            <a:off x="7510263" y="201168"/>
            <a:ext cx="1412171" cy="557404"/>
          </a:xfrm>
          <a:prstGeom prst="rect">
            <a:avLst/>
          </a:prstGeom>
          <a:effectLst>
            <a:outerShdw dist="50800" sx="1000" sy="1000" algn="ctr" rotWithShape="0">
              <a:srgbClr val="000000">
                <a:alpha val="13000"/>
              </a:srgbClr>
            </a:outerShdw>
            <a:softEdge rad="254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k-mers: the sliding window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143000"/>
            <a:ext cx="365760" cy="365760"/>
          </a:xfrm>
          <a:prstGeom prst="rect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41832" y="1143000"/>
            <a:ext cx="365760" cy="365760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41832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1335024" y="1143000"/>
            <a:ext cx="365760" cy="365760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35024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1728216" y="1143000"/>
            <a:ext cx="365760" cy="365760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728216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2121408" y="1143000"/>
            <a:ext cx="365760" cy="365760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12140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2514600" y="1143000"/>
            <a:ext cx="365760" cy="365760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51460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2907792" y="1143000"/>
            <a:ext cx="365760" cy="365760"/>
          </a:xfrm>
          <a:prstGeom prst="rect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907792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3300984" y="1143000"/>
            <a:ext cx="365760" cy="365760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300984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548640" y="1691640"/>
            <a:ext cx="329184" cy="329184"/>
          </a:xfrm>
          <a:prstGeom prst="rect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905256" y="1691640"/>
            <a:ext cx="329184" cy="329184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5256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1261872" y="1691640"/>
            <a:ext cx="329184" cy="329184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261872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4023360" y="16916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k-mer 1: ATG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941832" y="2148840"/>
            <a:ext cx="329184" cy="329184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41832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1298448" y="2148840"/>
            <a:ext cx="329184" cy="329184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298448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1655064" y="2148840"/>
            <a:ext cx="329184" cy="329184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655064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4023360" y="2148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k-mer 2: TGC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1335024" y="2606040"/>
            <a:ext cx="329184" cy="329184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335024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1691640" y="2606040"/>
            <a:ext cx="329184" cy="329184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69164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2048256" y="2606040"/>
            <a:ext cx="329184" cy="329184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2048256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4023360" y="2606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k-mer 3: GCG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1728216" y="3063240"/>
            <a:ext cx="329184" cy="329184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728216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2084832" y="3063240"/>
            <a:ext cx="329184" cy="329184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2084832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48" name="Shape 45"/>
          <p:cNvSpPr/>
          <p:nvPr/>
        </p:nvSpPr>
        <p:spPr>
          <a:xfrm>
            <a:off x="2441448" y="3063240"/>
            <a:ext cx="329184" cy="329184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2441448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4023360" y="30632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k-mer 4: CGT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2121408" y="3520440"/>
            <a:ext cx="329184" cy="329184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121408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53" name="Shape 50"/>
          <p:cNvSpPr/>
          <p:nvPr/>
        </p:nvSpPr>
        <p:spPr>
          <a:xfrm>
            <a:off x="2478024" y="3520440"/>
            <a:ext cx="329184" cy="329184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2478024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2834640" y="3520440"/>
            <a:ext cx="329184" cy="329184"/>
          </a:xfrm>
          <a:prstGeom prst="rect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2834640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500" dirty="0"/>
          </a:p>
        </p:txBody>
      </p:sp>
      <p:sp>
        <p:nvSpPr>
          <p:cNvPr id="57" name="Text 54"/>
          <p:cNvSpPr txBox="1"/>
          <p:nvPr/>
        </p:nvSpPr>
        <p:spPr>
          <a:xfrm>
            <a:off x="4023360" y="3520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k-mer 5: GTA</a:t>
            </a:r>
            <a:endParaRPr lang="en-US" sz="1300" dirty="0"/>
          </a:p>
        </p:txBody>
      </p:sp>
      <p:sp>
        <p:nvSpPr>
          <p:cNvPr id="58" name="Shape 55"/>
          <p:cNvSpPr/>
          <p:nvPr/>
        </p:nvSpPr>
        <p:spPr>
          <a:xfrm>
            <a:off x="2514600" y="3977640"/>
            <a:ext cx="329184" cy="329184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2514600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500" dirty="0"/>
          </a:p>
        </p:txBody>
      </p:sp>
      <p:sp>
        <p:nvSpPr>
          <p:cNvPr id="60" name="Shape 57"/>
          <p:cNvSpPr/>
          <p:nvPr/>
        </p:nvSpPr>
        <p:spPr>
          <a:xfrm>
            <a:off x="2871216" y="3977640"/>
            <a:ext cx="329184" cy="329184"/>
          </a:xfrm>
          <a:prstGeom prst="rect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871216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500" dirty="0"/>
          </a:p>
        </p:txBody>
      </p:sp>
      <p:sp>
        <p:nvSpPr>
          <p:cNvPr id="62" name="Shape 59"/>
          <p:cNvSpPr/>
          <p:nvPr/>
        </p:nvSpPr>
        <p:spPr>
          <a:xfrm>
            <a:off x="3227832" y="3977640"/>
            <a:ext cx="329184" cy="329184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3227832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500" dirty="0"/>
          </a:p>
        </p:txBody>
      </p:sp>
      <p:sp>
        <p:nvSpPr>
          <p:cNvPr id="64" name="Text 61"/>
          <p:cNvSpPr txBox="1"/>
          <p:nvPr/>
        </p:nvSpPr>
        <p:spPr>
          <a:xfrm>
            <a:off x="4023360" y="39776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k-mer 6: TAC</a:t>
            </a:r>
            <a:endParaRPr lang="en-US" sz="1300" dirty="0"/>
          </a:p>
        </p:txBody>
      </p:sp>
      <p:sp>
        <p:nvSpPr>
          <p:cNvPr id="65" name="Shape 62"/>
          <p:cNvSpPr/>
          <p:nvPr/>
        </p:nvSpPr>
        <p:spPr>
          <a:xfrm>
            <a:off x="6035040" y="1691640"/>
            <a:ext cx="265176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617220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300" dirty="0"/>
          </a:p>
        </p:txBody>
      </p:sp>
      <p:sp>
        <p:nvSpPr>
          <p:cNvPr id="67" name="Text 64"/>
          <p:cNvSpPr txBox="1"/>
          <p:nvPr/>
        </p:nvSpPr>
        <p:spPr>
          <a:xfrm>
            <a:off x="6172200" y="210312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3 and n = 8 gives n - k + 1 = 6 overlapping k-mers.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search = count every k-mer and see which repeat.</a:t>
            </a:r>
            <a:endParaRPr lang="en-US" sz="1200" dirty="0"/>
          </a:p>
        </p:txBody>
      </p:sp>
      <p:pic>
        <p:nvPicPr>
          <p:cNvPr id="68" name="Picture 67" descr="Image result for Kl University Logo Jpg">
            <a:extLst>
              <a:ext uri="{FF2B5EF4-FFF2-40B4-BE49-F238E27FC236}">
                <a16:creationId xmlns:a16="http://schemas.microsoft.com/office/drawing/2014/main" id="{707EA11B-6BEC-9496-3C7A-F27C6663C80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9000"/>
          </a:blip>
          <a:stretch>
            <a:fillRect/>
          </a:stretch>
        </p:blipFill>
        <p:spPr>
          <a:xfrm>
            <a:off x="7614954" y="192594"/>
            <a:ext cx="1412171" cy="557404"/>
          </a:xfrm>
          <a:prstGeom prst="rect">
            <a:avLst/>
          </a:prstGeom>
          <a:effectLst>
            <a:outerShdw dist="50800" sx="1000" sy="1000" algn="ctr" rotWithShape="0">
              <a:srgbClr val="000000">
                <a:alpha val="13000"/>
              </a:srgbClr>
            </a:outerShdw>
            <a:softEdge rad="254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objectives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188720"/>
            <a:ext cx="3291840" cy="3383280"/>
          </a:xfrm>
          <a:prstGeom prst="roundRect">
            <a:avLst>
              <a:gd name="adj" fmla="val 1944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188720"/>
            <a:ext cx="32918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many DNA or protein sequences, find the short patterns that keep recurring, where they are, how often, and how similar the sequences are.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Catch: millions of sequences, so one-by-one is too slow.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1188720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E3F4F2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89120" y="1188720"/>
            <a:ext cx="42062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Find recurring motifs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89120" y="1883664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389120" y="1883664"/>
            <a:ext cx="42062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Report exact positions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89120" y="2578608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E3F4F2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89120" y="2578608"/>
            <a:ext cx="42062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Compare sequences for similarity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389120" y="3273552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89120" y="3273552"/>
            <a:ext cx="42062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Handle large data efficiently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389120" y="3968496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E3F4F2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389120" y="3968496"/>
            <a:ext cx="42062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Use parallel processing</a:t>
            </a:r>
            <a:endParaRPr lang="en-US" sz="1400" dirty="0"/>
          </a:p>
        </p:txBody>
      </p:sp>
      <p:pic>
        <p:nvPicPr>
          <p:cNvPr id="19" name="Picture 18" descr="Image result for Kl University Logo Jpg">
            <a:extLst>
              <a:ext uri="{FF2B5EF4-FFF2-40B4-BE49-F238E27FC236}">
                <a16:creationId xmlns:a16="http://schemas.microsoft.com/office/drawing/2014/main" id="{5D83013F-0271-7535-F729-D1EF4C44786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9000"/>
          </a:blip>
          <a:stretch>
            <a:fillRect/>
          </a:stretch>
        </p:blipFill>
        <p:spPr>
          <a:xfrm>
            <a:off x="7614954" y="197166"/>
            <a:ext cx="1412171" cy="557404"/>
          </a:xfrm>
          <a:prstGeom prst="rect">
            <a:avLst/>
          </a:prstGeom>
          <a:effectLst>
            <a:outerShdw dist="50800" sx="1000" sy="1000" algn="ctr" rotWithShape="0">
              <a:srgbClr val="000000">
                <a:alpha val="13000"/>
              </a:srgbClr>
            </a:outerShdw>
            <a:softEdge rad="254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toolbox: four ideas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188720"/>
            <a:ext cx="1874520" cy="640080"/>
          </a:xfrm>
          <a:prstGeom prst="roundRect">
            <a:avLst>
              <a:gd name="adj" fmla="val 10000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188720"/>
            <a:ext cx="1874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1874520" cy="228600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011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331720"/>
            <a:ext cx="1600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at the back of a book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project: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k-mer -&gt; positions in O(1)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606040" y="1188720"/>
            <a:ext cx="1874520" cy="640080"/>
          </a:xfrm>
          <a:prstGeom prst="roundRect">
            <a:avLst>
              <a:gd name="adj" fmla="val 10000"/>
            </a:avLst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06040" y="1188720"/>
            <a:ext cx="1874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&amp; Conquer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606040" y="1920240"/>
            <a:ext cx="1874520" cy="228600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743200" y="2011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743200" y="2331720"/>
            <a:ext cx="1600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a pile of exam papers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project: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Halve, scan, merge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188720"/>
            <a:ext cx="1874520" cy="640080"/>
          </a:xfrm>
          <a:prstGeom prst="roundRect">
            <a:avLst>
              <a:gd name="adj" fmla="val 10000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63440" y="1188720"/>
            <a:ext cx="1874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Multiprocessing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663440" y="1920240"/>
            <a:ext cx="1874520" cy="228600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011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800600" y="2331720"/>
            <a:ext cx="1600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checkout counters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project: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run on many cores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720840" y="1188720"/>
            <a:ext cx="1874520" cy="640080"/>
          </a:xfrm>
          <a:prstGeom prst="roundRect">
            <a:avLst>
              <a:gd name="adj" fmla="val 10000"/>
            </a:avLst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20840" y="1188720"/>
            <a:ext cx="1874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720840" y="1920240"/>
            <a:ext cx="1874520" cy="228600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0" y="2011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2331720"/>
            <a:ext cx="1600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answers, do not redo work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project: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 and Smith-Waterman</a:t>
            </a:r>
            <a:endParaRPr lang="en-US" sz="1200" dirty="0"/>
          </a:p>
        </p:txBody>
      </p:sp>
      <p:pic>
        <p:nvPicPr>
          <p:cNvPr id="27" name="Picture 26" descr="Image result for Kl University Logo Jpg">
            <a:extLst>
              <a:ext uri="{FF2B5EF4-FFF2-40B4-BE49-F238E27FC236}">
                <a16:creationId xmlns:a16="http://schemas.microsoft.com/office/drawing/2014/main" id="{76D734E9-CE14-95F8-A1B8-2D385D060A0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9000"/>
          </a:blip>
          <a:stretch>
            <a:fillRect/>
          </a:stretch>
        </p:blipFill>
        <p:spPr>
          <a:xfrm>
            <a:off x="7658100" y="174116"/>
            <a:ext cx="1412171" cy="557404"/>
          </a:xfrm>
          <a:prstGeom prst="rect">
            <a:avLst/>
          </a:prstGeom>
          <a:effectLst>
            <a:outerShdw dist="50800" sx="1000" sy="1000" algn="ctr" rotWithShape="0">
              <a:srgbClr val="000000">
                <a:alpha val="13000"/>
              </a:srgbClr>
            </a:outerShdw>
            <a:softEdge rad="2540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Hashing: the lookup table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188720"/>
            <a:ext cx="365760" cy="365760"/>
          </a:xfrm>
          <a:prstGeom prst="rect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41832" y="1188720"/>
            <a:ext cx="365760" cy="365760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41832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1335024" y="1188720"/>
            <a:ext cx="365760" cy="365760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35024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1728216" y="1188720"/>
            <a:ext cx="365760" cy="365760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728216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2121408" y="1188720"/>
            <a:ext cx="365760" cy="365760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121408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2514600" y="1188720"/>
            <a:ext cx="365760" cy="365760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51460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2907792" y="1188720"/>
            <a:ext cx="365760" cy="365760"/>
          </a:xfrm>
          <a:prstGeom prst="rect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907792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3300984" y="1188720"/>
            <a:ext cx="365760" cy="365760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300984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3694176" y="1188720"/>
            <a:ext cx="365760" cy="365760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94176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with k = 3, one pass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2103120" y="1965960"/>
            <a:ext cx="0" cy="41148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3840480" cy="20269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(k-mer)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(positions, 1-based)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ATG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 7]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TGC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[2]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GCG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[3]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CGT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[4]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GTA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[5]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[6]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4846320" y="1188720"/>
            <a:ext cx="3749040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98348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4983480" y="1600200"/>
            <a:ext cx="34747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Average O(1) insert and lookup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One pass builds the full index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Recurring candidates are the keys with more than one position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 the code: a Python dict, one per motif length k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ATG appears twice: at positions 1 and 7.</a:t>
            </a:r>
            <a:endParaRPr lang="en-US" sz="1300" dirty="0"/>
          </a:p>
        </p:txBody>
      </p:sp>
      <p:pic>
        <p:nvPicPr>
          <p:cNvPr id="31" name="Picture 30" descr="Image result for Kl University Logo Jpg">
            <a:extLst>
              <a:ext uri="{FF2B5EF4-FFF2-40B4-BE49-F238E27FC236}">
                <a16:creationId xmlns:a16="http://schemas.microsoft.com/office/drawing/2014/main" id="{7A417ACE-62D5-2D16-0507-3D51FB154AF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9000"/>
          </a:blip>
          <a:stretch>
            <a:fillRect/>
          </a:stretch>
        </p:blipFill>
        <p:spPr>
          <a:xfrm>
            <a:off x="7675559" y="178498"/>
            <a:ext cx="1412171" cy="557404"/>
          </a:xfrm>
          <a:prstGeom prst="rect">
            <a:avLst/>
          </a:prstGeom>
          <a:effectLst>
            <a:outerShdw dist="50800" sx="1000" sy="1000" algn="ctr" rotWithShape="0">
              <a:srgbClr val="000000">
                <a:alpha val="13000"/>
              </a:srgbClr>
            </a:outerShdw>
            <a:softEdge rad="2540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and Conquer on k-mer start positions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566160" y="1097280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1 - 16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 flipH="1">
            <a:off x="2743200" y="1554480"/>
            <a:ext cx="1828800" cy="41148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1737360" y="1965960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737360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1 - 8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0" y="1554480"/>
            <a:ext cx="2011680" cy="41148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577840" y="1965960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77840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9 - 16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 flipH="1">
            <a:off x="1463040" y="2423160"/>
            <a:ext cx="1280160" cy="41148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40080" y="2834640"/>
            <a:ext cx="1645920" cy="457200"/>
          </a:xfrm>
          <a:prstGeom prst="roundRect">
            <a:avLst>
              <a:gd name="adj" fmla="val 14000"/>
            </a:avLst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1 - 4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743200" y="2423160"/>
            <a:ext cx="914400" cy="41148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2834640" y="2834640"/>
            <a:ext cx="1645920" cy="457200"/>
          </a:xfrm>
          <a:prstGeom prst="roundRect">
            <a:avLst>
              <a:gd name="adj" fmla="val 14000"/>
            </a:avLst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83464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5 - 8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 flipH="1">
            <a:off x="5303520" y="2423160"/>
            <a:ext cx="1280160" cy="41148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480560" y="2834640"/>
            <a:ext cx="1645920" cy="457200"/>
          </a:xfrm>
          <a:prstGeom prst="roundRect">
            <a:avLst>
              <a:gd name="adj" fmla="val 14000"/>
            </a:avLst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48056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9 - 12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583680" y="2423160"/>
            <a:ext cx="914400" cy="41148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675120" y="2834640"/>
            <a:ext cx="1645920" cy="457200"/>
          </a:xfrm>
          <a:prstGeom prst="roundRect">
            <a:avLst>
              <a:gd name="adj" fmla="val 14000"/>
            </a:avLst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67512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13 - 16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91440" y="1188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CONQUER: scan small leaves directly (base size)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 flipV="1">
            <a:off x="4480560" y="3749040"/>
            <a:ext cx="0" cy="320040"/>
          </a:xfrm>
          <a:prstGeom prst="line">
            <a:avLst/>
          </a:prstGeom>
          <a:noFill/>
          <a:ln w="22225">
            <a:solidFill>
              <a:srgbClr val="1AA39A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2377440" y="4114800"/>
            <a:ext cx="4389120" cy="502920"/>
          </a:xfrm>
          <a:prstGeom prst="roundRect">
            <a:avLst>
              <a:gd name="adj" fmla="val 1272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377440" y="4114800"/>
            <a:ext cx="43891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COMBINE: merge partial maps back up</a:t>
            </a:r>
            <a:endParaRPr lang="en-US" sz="1200" dirty="0"/>
          </a:p>
        </p:txBody>
      </p:sp>
      <p:pic>
        <p:nvPicPr>
          <p:cNvPr id="32" name="Picture 31" descr="Image result for Kl University Logo Jpg">
            <a:extLst>
              <a:ext uri="{FF2B5EF4-FFF2-40B4-BE49-F238E27FC236}">
                <a16:creationId xmlns:a16="http://schemas.microsoft.com/office/drawing/2014/main" id="{236498B1-36B1-D9A4-D67D-08170D90DE1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9000"/>
          </a:blip>
          <a:stretch>
            <a:fillRect/>
          </a:stretch>
        </p:blipFill>
        <p:spPr>
          <a:xfrm>
            <a:off x="7589520" y="215454"/>
            <a:ext cx="1412171" cy="557404"/>
          </a:xfrm>
          <a:prstGeom prst="rect">
            <a:avLst/>
          </a:prstGeom>
          <a:effectLst>
            <a:outerShdw dist="50800" sx="1000" sy="1000" algn="ctr" rotWithShape="0">
              <a:srgbClr val="000000">
                <a:alpha val="13000"/>
              </a:srgbClr>
            </a:outerShdw>
            <a:softEdge rad="2540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Multiprocessing: many checkout counters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280160"/>
            <a:ext cx="19202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task 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468880" y="1600200"/>
            <a:ext cx="731520" cy="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200400" y="1280160"/>
            <a:ext cx="2103120" cy="640080"/>
          </a:xfrm>
          <a:prstGeom prst="roundRect">
            <a:avLst>
              <a:gd name="adj" fmla="val 10000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00400" y="1280160"/>
            <a:ext cx="21031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D&amp;C + hashing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03520" y="1600200"/>
            <a:ext cx="1005840" cy="73152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48640" y="2331720"/>
            <a:ext cx="19202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task 2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468880" y="2651760"/>
            <a:ext cx="731520" cy="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200400" y="2331720"/>
            <a:ext cx="2103120" cy="640080"/>
          </a:xfrm>
          <a:prstGeom prst="roundRect">
            <a:avLst>
              <a:gd name="adj" fmla="val 10000"/>
            </a:avLst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200400" y="2331720"/>
            <a:ext cx="21031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D&amp;C + hashing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 flipV="1">
            <a:off x="5303520" y="2331720"/>
            <a:ext cx="1005840" cy="32004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548640" y="3383280"/>
            <a:ext cx="19202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3383280"/>
            <a:ext cx="1920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task 3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468880" y="3703320"/>
            <a:ext cx="731520" cy="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3200400" y="3383280"/>
            <a:ext cx="2103120" cy="640080"/>
          </a:xfrm>
          <a:prstGeom prst="roundRect">
            <a:avLst>
              <a:gd name="adj" fmla="val 10000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200400" y="3383280"/>
            <a:ext cx="21031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D&amp;C + hashing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 flipV="1">
            <a:off x="5303520" y="2331720"/>
            <a:ext cx="1005840" cy="137160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309360" y="1874520"/>
            <a:ext cx="2286000" cy="914400"/>
          </a:xfrm>
          <a:prstGeom prst="roundRect">
            <a:avLst>
              <a:gd name="adj" fmla="val 7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09360" y="1874520"/>
            <a:ext cx="22860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into one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index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Processes, not threads: Python's GIL blocks CPU-bound threads from running together.</a:t>
            </a:r>
            <a:endParaRPr lang="en-US" sz="1200" dirty="0"/>
          </a:p>
        </p:txBody>
      </p:sp>
      <p:pic>
        <p:nvPicPr>
          <p:cNvPr id="28" name="Picture 27" descr="Image result for Kl University Logo Jpg">
            <a:extLst>
              <a:ext uri="{FF2B5EF4-FFF2-40B4-BE49-F238E27FC236}">
                <a16:creationId xmlns:a16="http://schemas.microsoft.com/office/drawing/2014/main" id="{658D3DFC-10CE-D73E-440C-51F1D7B3D54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9000"/>
          </a:blip>
          <a:stretch>
            <a:fillRect/>
          </a:stretch>
        </p:blipFill>
        <p:spPr>
          <a:xfrm>
            <a:off x="7614954" y="201168"/>
            <a:ext cx="1412171" cy="557404"/>
          </a:xfrm>
          <a:prstGeom prst="rect">
            <a:avLst/>
          </a:prstGeom>
          <a:effectLst>
            <a:outerShdw dist="50800" sx="1000" sy="1000" algn="ctr" rotWithShape="0">
              <a:srgbClr val="000000">
                <a:alpha val="13000"/>
              </a:srgbClr>
            </a:outerShdw>
            <a:softEdge rad="2540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programming: LCS table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4206240" cy="2926080"/>
        </p:xfrm>
        <a:graphic>
          <a:graphicData uri="http://schemas.openxmlformats.org/drawingml/2006/table">
            <a:tbl>
              <a:tblPr/>
              <a:tblGrid>
                <a:gridCol w="525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4206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ATGCGT, B = ATGCTT  -&gt;  LCS length = 5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029200" y="1143000"/>
            <a:ext cx="356616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166360" y="1234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 (global similarity)</a:t>
            </a:r>
            <a:endParaRPr lang="en-US" sz="1300" dirty="0"/>
          </a:p>
        </p:txBody>
      </p:sp>
      <p:sp>
        <p:nvSpPr>
          <p:cNvPr id="6" name="Text 7"/>
          <p:cNvSpPr txBox="1"/>
          <p:nvPr/>
        </p:nvSpPr>
        <p:spPr>
          <a:xfrm>
            <a:off x="5166360" y="155448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Match: diagonal + 1. Else max(up, left).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= 2 x LCS / (|A| + |B|)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O(n x m)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0" y="2834640"/>
            <a:ext cx="356616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16636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Smith-Waterman (local)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166360" y="324612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Scores: match +2, mismatch -1, gap -2. Cells never below 0. Traceback from the best cell gives the most conserved region.</a:t>
            </a:r>
            <a:endParaRPr lang="en-US" sz="1200" dirty="0"/>
          </a:p>
        </p:txBody>
      </p:sp>
      <p:pic>
        <p:nvPicPr>
          <p:cNvPr id="15" name="Picture 14" descr="Image result for Kl University Logo Jpg">
            <a:extLst>
              <a:ext uri="{FF2B5EF4-FFF2-40B4-BE49-F238E27FC236}">
                <a16:creationId xmlns:a16="http://schemas.microsoft.com/office/drawing/2014/main" id="{49D2C9A4-0A67-9333-59F9-A7BE87457C1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9000"/>
          </a:blip>
          <a:stretch>
            <a:fillRect/>
          </a:stretch>
        </p:blipFill>
        <p:spPr>
          <a:xfrm>
            <a:off x="7614954" y="192594"/>
            <a:ext cx="1412171" cy="557404"/>
          </a:xfrm>
          <a:prstGeom prst="rect">
            <a:avLst/>
          </a:prstGeom>
          <a:effectLst>
            <a:outerShdw dist="50800" sx="1000" sy="1000" algn="ctr" rotWithShape="0">
              <a:srgbClr val="000000">
                <a:alpha val="13000"/>
              </a:srgbClr>
            </a:outerShdw>
            <a:softEdge rad="25400"/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143000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143000"/>
            <a:ext cx="23774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 input (DNA / protein)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737360" y="1691640"/>
            <a:ext cx="0" cy="27432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48640" y="1965960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737360" y="2514600"/>
            <a:ext cx="0" cy="27432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48640" y="2788920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chunks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 flipV="1">
            <a:off x="2926080" y="1417320"/>
            <a:ext cx="731520" cy="164592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657600" y="1143000"/>
            <a:ext cx="2194560" cy="548640"/>
          </a:xfrm>
          <a:prstGeom prst="roundRect">
            <a:avLst>
              <a:gd name="adj" fmla="val 11667"/>
            </a:avLst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57600" y="1143000"/>
            <a:ext cx="2194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1: motif search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852160" y="1417320"/>
            <a:ext cx="548640" cy="77724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 flipV="1">
            <a:off x="2926080" y="2331720"/>
            <a:ext cx="731520" cy="73152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657600" y="2057400"/>
            <a:ext cx="2194560" cy="548640"/>
          </a:xfrm>
          <a:prstGeom prst="roundRect">
            <a:avLst>
              <a:gd name="adj" fmla="val 11667"/>
            </a:avLst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65760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2: motif search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 flipV="1">
            <a:off x="5852160" y="2194560"/>
            <a:ext cx="548640" cy="13716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2926080" y="3063240"/>
            <a:ext cx="731520" cy="18288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3657600" y="2971800"/>
            <a:ext cx="2194560" cy="548640"/>
          </a:xfrm>
          <a:prstGeom prst="roundRect">
            <a:avLst>
              <a:gd name="adj" fmla="val 11667"/>
            </a:avLst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657600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3: motif search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 flipV="1">
            <a:off x="5852160" y="2194560"/>
            <a:ext cx="548640" cy="105156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6400800" y="1783080"/>
            <a:ext cx="2194560" cy="822960"/>
          </a:xfrm>
          <a:prstGeom prst="roundRect">
            <a:avLst>
              <a:gd name="adj" fmla="val 777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0" y="1783080"/>
            <a:ext cx="21945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results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498080" y="2606040"/>
            <a:ext cx="0" cy="36576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6400800" y="2971800"/>
            <a:ext cx="2194560" cy="548640"/>
          </a:xfrm>
          <a:prstGeom prst="roundRect">
            <a:avLst>
              <a:gd name="adj" fmla="val 11667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0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analysis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498080" y="3520440"/>
            <a:ext cx="0" cy="36576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5852160" y="388620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852160" y="3886200"/>
            <a:ext cx="2743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motifs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DP alignment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&amp; Conquer runs inside each process</a:t>
            </a:r>
            <a:endParaRPr lang="en-US" sz="1200" dirty="0"/>
          </a:p>
        </p:txBody>
      </p:sp>
      <p:pic>
        <p:nvPicPr>
          <p:cNvPr id="36" name="Picture 35" descr="Image result for Kl University Logo Jpg">
            <a:extLst>
              <a:ext uri="{FF2B5EF4-FFF2-40B4-BE49-F238E27FC236}">
                <a16:creationId xmlns:a16="http://schemas.microsoft.com/office/drawing/2014/main" id="{E2E484C1-9B3F-BB46-168B-F48EC9E5C5E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9000"/>
          </a:blip>
          <a:stretch>
            <a:fillRect/>
          </a:stretch>
        </p:blipFill>
        <p:spPr>
          <a:xfrm>
            <a:off x="7614954" y="201168"/>
            <a:ext cx="1412171" cy="557404"/>
          </a:xfrm>
          <a:prstGeom prst="rect">
            <a:avLst/>
          </a:prstGeom>
          <a:effectLst>
            <a:outerShdw dist="50800" sx="1000" sy="1000" algn="ctr" rotWithShape="0">
              <a:srgbClr val="000000">
                <a:alpha val="13000"/>
              </a:srgbClr>
            </a:outerShdw>
            <a:softEdge rad="2540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story: six stations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2514600" cy="457200"/>
          </a:xfrm>
          <a:prstGeom prst="roundRect">
            <a:avLst>
              <a:gd name="adj" fmla="val 14000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234440"/>
            <a:ext cx="2514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Reception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691640"/>
            <a:ext cx="25146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783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1031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FASTA, tidy letters, validate DNA / protein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063240" y="1463040"/>
            <a:ext cx="274320" cy="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337560" y="1234440"/>
            <a:ext cx="2514600" cy="457200"/>
          </a:xfrm>
          <a:prstGeom prst="roundRect">
            <a:avLst>
              <a:gd name="adj" fmla="val 14000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37560" y="1234440"/>
            <a:ext cx="2514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Cutting room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337560" y="1691640"/>
            <a:ext cx="25146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74720" y="1783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21031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each sequence into independent chunk jobs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852160" y="1463040"/>
            <a:ext cx="274320" cy="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126480" y="1234440"/>
            <a:ext cx="2514600" cy="457200"/>
          </a:xfrm>
          <a:prstGeom prst="roundRect">
            <a:avLst>
              <a:gd name="adj" fmla="val 14000"/>
            </a:avLst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26480" y="1234440"/>
            <a:ext cx="2514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Workers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126480" y="1691640"/>
            <a:ext cx="25146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63640" y="1783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263640" y="21031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of processes: divide, conquer, hash every k-mer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3017520"/>
            <a:ext cx="2514600" cy="457200"/>
          </a:xfrm>
          <a:prstGeom prst="roundRect">
            <a:avLst>
              <a:gd name="adj" fmla="val 14000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3017520"/>
            <a:ext cx="2514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Combining desk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48640" y="3474720"/>
            <a:ext cx="25146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5800" y="3566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85800" y="3886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notes into one master motif index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063240" y="3246120"/>
            <a:ext cx="274320" cy="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3337560" y="3017520"/>
            <a:ext cx="2514600" cy="457200"/>
          </a:xfrm>
          <a:prstGeom prst="roundRect">
            <a:avLst>
              <a:gd name="adj" fmla="val 14000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337560" y="3017520"/>
            <a:ext cx="2514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Analyst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3337560" y="3474720"/>
            <a:ext cx="25146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474720" y="3566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3474720" y="3886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filter, rank; optional maximal-motif filter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852160" y="3246120"/>
            <a:ext cx="274320" cy="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6126480" y="3017520"/>
            <a:ext cx="2514600" cy="457200"/>
          </a:xfrm>
          <a:prstGeom prst="roundRect">
            <a:avLst>
              <a:gd name="adj" fmla="val 14000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126480" y="3017520"/>
            <a:ext cx="2514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Comparison lab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126480" y="3474720"/>
            <a:ext cx="25146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263640" y="3566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6263640" y="3886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 heat map and Smith-Waterman alignments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 flipH="1">
            <a:off x="1828800" y="2834640"/>
            <a:ext cx="5212080" cy="182880"/>
          </a:xfrm>
          <a:prstGeom prst="line">
            <a:avLst/>
          </a:prstGeom>
          <a:noFill/>
          <a:ln w="22225">
            <a:solidFill>
              <a:srgbClr val="9AA7B3"/>
            </a:solidFill>
            <a:prstDash val="solid"/>
            <a:tailEnd type="triangle"/>
          </a:ln>
        </p:spPr>
      </p:sp>
      <p:pic>
        <p:nvPicPr>
          <p:cNvPr id="42" name="Picture 41" descr="Image result for Kl University Logo Jpg">
            <a:extLst>
              <a:ext uri="{FF2B5EF4-FFF2-40B4-BE49-F238E27FC236}">
                <a16:creationId xmlns:a16="http://schemas.microsoft.com/office/drawing/2014/main" id="{0CF91F0F-AAA8-E748-C6BA-4E5797D6162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9000"/>
          </a:blip>
          <a:stretch>
            <a:fillRect/>
          </a:stretch>
        </p:blipFill>
        <p:spPr>
          <a:xfrm>
            <a:off x="7614954" y="196948"/>
            <a:ext cx="1412171" cy="557404"/>
          </a:xfrm>
          <a:prstGeom prst="rect">
            <a:avLst/>
          </a:prstGeom>
          <a:effectLst>
            <a:outerShdw dist="50800" sx="1000" sy="1000" algn="ctr" rotWithShape="0">
              <a:srgbClr val="000000">
                <a:alpha val="13000"/>
              </a:srgbClr>
            </a:outerShdw>
            <a:softEdge rad="25400"/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modules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188720"/>
            <a:ext cx="2468880" cy="411480"/>
          </a:xfrm>
          <a:prstGeom prst="roundRect">
            <a:avLst>
              <a:gd name="adj" fmla="val 15556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188720"/>
            <a:ext cx="24688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600200"/>
            <a:ext cx="24688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691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preprocessing.py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0" y="1188720"/>
            <a:ext cx="2651760" cy="411480"/>
          </a:xfrm>
          <a:prstGeom prst="roundRect">
            <a:avLst>
              <a:gd name="adj" fmla="val 15556"/>
            </a:avLst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00400" y="1188720"/>
            <a:ext cx="2651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00400" y="160020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37560" y="16916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motif_search.py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divide_conquer.py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multiprocessing_search.py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35040" y="1188720"/>
            <a:ext cx="2560320" cy="411480"/>
          </a:xfrm>
          <a:prstGeom prst="roundRect">
            <a:avLst>
              <a:gd name="adj" fmla="val 15556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35040" y="1188720"/>
            <a:ext cx="25603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35040" y="160020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72200" y="1691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sequence_alignment.py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analysis.py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2971800"/>
            <a:ext cx="3931920" cy="411480"/>
          </a:xfrm>
          <a:prstGeom prst="roundRect">
            <a:avLst>
              <a:gd name="adj" fmla="val 1555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2971800"/>
            <a:ext cx="39319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338328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34747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 (CLI)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server.py + static/ (web UI)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benchmark.py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663440" y="2971800"/>
            <a:ext cx="3931920" cy="411480"/>
          </a:xfrm>
          <a:prstGeom prst="roundRect">
            <a:avLst>
              <a:gd name="adj" fmla="val 15556"/>
            </a:avLst>
          </a:prstGeom>
          <a:solidFill>
            <a:srgbClr val="5B6B7A"/>
          </a:solidFill>
          <a:ln w="12700">
            <a:solidFill>
              <a:srgbClr val="5B6B7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663440" y="2971800"/>
            <a:ext cx="39319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663440" y="338328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00600" y="34747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 (20 tests)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 samples, generate_data.py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docs/, README.md</a:t>
            </a:r>
            <a:endParaRPr lang="en-US" sz="1200" dirty="0"/>
          </a:p>
        </p:txBody>
      </p:sp>
      <p:pic>
        <p:nvPicPr>
          <p:cNvPr id="27" name="Picture 26" descr="Image result for Kl University Logo Jpg">
            <a:extLst>
              <a:ext uri="{FF2B5EF4-FFF2-40B4-BE49-F238E27FC236}">
                <a16:creationId xmlns:a16="http://schemas.microsoft.com/office/drawing/2014/main" id="{841C5995-246E-CC21-7870-3E47D6A70A0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9000"/>
          </a:blip>
          <a:stretch>
            <a:fillRect/>
          </a:stretch>
        </p:blipFill>
        <p:spPr>
          <a:xfrm>
            <a:off x="7614954" y="178498"/>
            <a:ext cx="1412171" cy="557404"/>
          </a:xfrm>
          <a:prstGeom prst="rect">
            <a:avLst/>
          </a:prstGeom>
          <a:effectLst>
            <a:outerShdw dist="50800" sx="1000" sy="1000" algn="ctr" rotWithShape="0">
              <a:srgbClr val="000000">
                <a:alpha val="13000"/>
              </a:srgbClr>
            </a:outerShdw>
            <a:softEdge rad="25400"/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1: the example from the brief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143000"/>
            <a:ext cx="8046720" cy="1920240"/>
          </a:xfrm>
          <a:prstGeom prst="roundRect">
            <a:avLst>
              <a:gd name="adj" fmla="val 2857"/>
            </a:avLst>
          </a:prstGeom>
          <a:solidFill>
            <a:srgbClr val="0B1722"/>
          </a:solidFill>
          <a:ln w="12700">
            <a:solidFill>
              <a:srgbClr val="0B172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28016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6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main.py --align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6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Loaded 3 dna sequences (46 residues)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6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Motif   Occurrences  Sequences Found  Positions (1-based)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6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ATGCGT  5            3                Sequence_1:1, Sequence_1:10, Sequence_2:3 ...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6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GCGT    5            3                Sequence_1:3, Sequence_1:12, Sequence_2:5 ...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6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GATG    3            3                Sequence_1:9, Sequence_2:2, Sequence_3:10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39319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Occurrences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6576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overlapping hits across all sequences. ATGCGT: 2 + 1 + 2 = 5.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3246120"/>
            <a:ext cx="39319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0060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found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800600" y="36576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different sequences contain the motif. ATGCGT: 3 of 3. This matches the brief's figure.</a:t>
            </a:r>
            <a:endParaRPr lang="en-US" sz="1200" dirty="0"/>
          </a:p>
        </p:txBody>
      </p:sp>
      <p:pic>
        <p:nvPicPr>
          <p:cNvPr id="15" name="Picture 14" descr="Image result for Kl University Logo Jpg">
            <a:extLst>
              <a:ext uri="{FF2B5EF4-FFF2-40B4-BE49-F238E27FC236}">
                <a16:creationId xmlns:a16="http://schemas.microsoft.com/office/drawing/2014/main" id="{6A93FD6F-3222-0F1D-EE9D-8457F5FDE08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9000"/>
          </a:blip>
          <a:stretch>
            <a:fillRect/>
          </a:stretch>
        </p:blipFill>
        <p:spPr>
          <a:xfrm>
            <a:off x="7614954" y="169734"/>
            <a:ext cx="1412171" cy="557404"/>
          </a:xfrm>
          <a:prstGeom prst="rect">
            <a:avLst/>
          </a:prstGeom>
          <a:effectLst>
            <a:outerShdw dist="50800" sx="1000" sy="1000" algn="ctr" rotWithShape="0">
              <a:srgbClr val="000000">
                <a:alpha val="13000"/>
              </a:srgbClr>
            </a:outerShdw>
            <a:softEdge rad="25400"/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2: finding hidden motifs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097280"/>
          <a:ext cx="5120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188720"/>
          <a:ext cx="2834640" cy="197510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Seqs found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ATGCGTAC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 / 30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CGCGAATT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 / 30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TATGCGTA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 / 30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TGCGTACT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 / 30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TGCGTACC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 / 30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852160" y="33832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 to 8, maximal motifs only, sorted by length, min 10 sequences.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Planted: ATGCGTAC and CGCGAATT. The rest overlap them.</a:t>
            </a:r>
            <a:endParaRPr lang="en-US" sz="1200" dirty="0"/>
          </a:p>
        </p:txBody>
      </p:sp>
      <p:pic>
        <p:nvPicPr>
          <p:cNvPr id="8" name="Picture 7" descr="Image result for Kl University Logo Jpg">
            <a:extLst>
              <a:ext uri="{FF2B5EF4-FFF2-40B4-BE49-F238E27FC236}">
                <a16:creationId xmlns:a16="http://schemas.microsoft.com/office/drawing/2014/main" id="{8EEF4753-2CFD-7047-2651-65370449ADB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9000"/>
          </a:blip>
          <a:stretch>
            <a:fillRect/>
          </a:stretch>
        </p:blipFill>
        <p:spPr>
          <a:xfrm>
            <a:off x="7682592" y="169734"/>
            <a:ext cx="1412171" cy="557404"/>
          </a:xfrm>
          <a:prstGeom prst="rect">
            <a:avLst/>
          </a:prstGeom>
          <a:effectLst>
            <a:outerShdw dist="50800" sx="1000" sy="1000" algn="ctr" rotWithShape="0">
              <a:srgbClr val="000000">
                <a:alpha val="13000"/>
              </a:srgbClr>
            </a:outerShdw>
            <a:softEdge rad="25400"/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3: comparing sequences with DP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3657600" cy="175564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LCS 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D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D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3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480560" y="1188720"/>
            <a:ext cx="4114800" cy="2194560"/>
          </a:xfrm>
          <a:prstGeom prst="roundRect">
            <a:avLst>
              <a:gd name="adj" fmla="val 2500"/>
            </a:avLst>
          </a:prstGeom>
          <a:solidFill>
            <a:srgbClr val="0B1722"/>
          </a:solidFill>
          <a:ln w="12700">
            <a:solidFill>
              <a:srgbClr val="0B172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663440" y="132588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6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Smith-Waterman Seq 1 vs Seq 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23, identity 87%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ATGCGTACGATGCGT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||||||  |||||||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ATGCGT-GGATGCGT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3429000"/>
            <a:ext cx="36576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" y="3520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result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38404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1 vs Seq 3 = 0.84 (closest).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2 vs Seq 3 share the exact stretch GATGCGT (100% identity).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480560" y="3566160"/>
            <a:ext cx="41148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61772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reported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3977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common subsequence: ATGCGTGATGCGT</a:t>
            </a:r>
            <a:endParaRPr lang="en-US" sz="1200" dirty="0"/>
          </a:p>
        </p:txBody>
      </p:sp>
      <p:pic>
        <p:nvPicPr>
          <p:cNvPr id="7" name="Picture 6" descr="Image result for Kl University Logo Jpg">
            <a:extLst>
              <a:ext uri="{FF2B5EF4-FFF2-40B4-BE49-F238E27FC236}">
                <a16:creationId xmlns:a16="http://schemas.microsoft.com/office/drawing/2014/main" id="{C71CDDB0-5DF5-B7D1-BF36-7EAFEE368F6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9000"/>
          </a:blip>
          <a:stretch>
            <a:fillRect/>
          </a:stretch>
        </p:blipFill>
        <p:spPr>
          <a:xfrm>
            <a:off x="7614954" y="169734"/>
            <a:ext cx="1412171" cy="557404"/>
          </a:xfrm>
          <a:prstGeom prst="rect">
            <a:avLst/>
          </a:prstGeom>
          <a:effectLst>
            <a:outerShdw dist="50800" sx="1000" sy="1000" algn="ctr" rotWithShape="0">
              <a:srgbClr val="000000">
                <a:alpha val="13000"/>
              </a:srgbClr>
            </a:outerShdw>
            <a:softEdge rad="25400"/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limitations and future work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143000"/>
            <a:ext cx="260604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234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554480"/>
            <a:ext cx="2331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Fast motif search with hashing and D&amp;C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Parallel across processes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DP comparison of sequences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CLI, web dashboard, CSV / JSON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- 20 passing tests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1143000"/>
            <a:ext cx="260604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83280" y="1234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1554480"/>
            <a:ext cx="2331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Small data: parallel overhead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Memory grows with distinct k-mers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Alignment cost O(n x m), so limited to a few sequences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 BLOSUM scoring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1143000"/>
            <a:ext cx="265176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8076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080760" y="1554480"/>
            <a:ext cx="2377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Rolling hashes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Protein scoring matrices (BLOSUM)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Cluster or GPU scaling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Streaming very large files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794760"/>
            <a:ext cx="8046720" cy="822960"/>
          </a:xfrm>
          <a:prstGeom prst="roundRect">
            <a:avLst>
              <a:gd name="adj" fmla="val 7778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794760"/>
            <a:ext cx="80467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take a mountain of sequences, split the work, search it in parallel, and use dynamic programming to compare, so hidden patterns become visible in seconds.</a:t>
            </a:r>
            <a:endParaRPr lang="en-US" sz="1400" dirty="0"/>
          </a:p>
        </p:txBody>
      </p:sp>
      <p:pic>
        <p:nvPicPr>
          <p:cNvPr id="18" name="Picture 17" descr="Image result for Kl University Logo Jpg">
            <a:extLst>
              <a:ext uri="{FF2B5EF4-FFF2-40B4-BE49-F238E27FC236}">
                <a16:creationId xmlns:a16="http://schemas.microsoft.com/office/drawing/2014/main" id="{89385286-C082-9C45-F140-FC6D8DF3DFF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9000"/>
          </a:blip>
          <a:stretch>
            <a:fillRect/>
          </a:stretch>
        </p:blipFill>
        <p:spPr>
          <a:xfrm>
            <a:off x="7689626" y="201168"/>
            <a:ext cx="1412171" cy="557404"/>
          </a:xfrm>
          <a:prstGeom prst="rect">
            <a:avLst/>
          </a:prstGeom>
          <a:effectLst>
            <a:outerShdw dist="50800" sx="1000" sy="1000" algn="ctr" rotWithShape="0">
              <a:srgbClr val="000000">
                <a:alpha val="13000"/>
              </a:srgbClr>
            </a:outerShdw>
            <a:softEdge rad="254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1922</Words>
  <Application>Microsoft Office PowerPoint</Application>
  <PresentationFormat>On-screen Show (16:9)</PresentationFormat>
  <Paragraphs>492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Genetic Sequence Motif Finder</dc:title>
  <dc:subject>PptxGenJS Presentation</dc:subject>
  <dc:creator>PptxGenJS</dc:creator>
  <cp:lastModifiedBy>siva teja reddy</cp:lastModifiedBy>
  <cp:revision>6</cp:revision>
  <dcterms:created xsi:type="dcterms:W3CDTF">2026-10-06T07:52:09Z</dcterms:created>
  <dcterms:modified xsi:type="dcterms:W3CDTF">2026-10-13T08:26:17Z</dcterms:modified>
</cp:coreProperties>
</file>